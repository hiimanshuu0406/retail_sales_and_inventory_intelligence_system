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25"/>
  </p:notesMasterIdLst>
  <p:handoutMasterIdLst>
    <p:handoutMasterId r:id="rId26"/>
  </p:handoutMasterIdLst>
  <p:sldIdLst>
    <p:sldId id="410" r:id="rId5"/>
    <p:sldId id="383" r:id="rId6"/>
    <p:sldId id="397" r:id="rId7"/>
    <p:sldId id="409" r:id="rId8"/>
    <p:sldId id="412" r:id="rId9"/>
    <p:sldId id="413" r:id="rId10"/>
    <p:sldId id="414" r:id="rId11"/>
    <p:sldId id="415" r:id="rId12"/>
    <p:sldId id="416" r:id="rId13"/>
    <p:sldId id="417" r:id="rId14"/>
    <p:sldId id="391" r:id="rId15"/>
    <p:sldId id="421" r:id="rId16"/>
    <p:sldId id="408" r:id="rId17"/>
    <p:sldId id="422" r:id="rId18"/>
    <p:sldId id="423" r:id="rId19"/>
    <p:sldId id="424" r:id="rId20"/>
    <p:sldId id="425" r:id="rId21"/>
    <p:sldId id="426" r:id="rId22"/>
    <p:sldId id="427" r:id="rId23"/>
    <p:sldId id="39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8" autoAdjust="0"/>
    <p:restoredTop sz="96327" autoAdjust="0"/>
  </p:normalViewPr>
  <p:slideViewPr>
    <p:cSldViewPr snapToGrid="0">
      <p:cViewPr varScale="1">
        <p:scale>
          <a:sx n="87" d="100"/>
          <a:sy n="87" d="100"/>
        </p:scale>
        <p:origin x="41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31-Oct-25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31-Oct-25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hiimanshuu0406@gmail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Retail Sales &amp; Inventory Intelligence System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4496634"/>
          </a:xfrm>
        </p:spPr>
        <p:txBody>
          <a:bodyPr tIns="457200"/>
          <a:lstStyle/>
          <a:p>
            <a:r>
              <a:rPr lang="en-US" dirty="0"/>
              <a:t>Analyze overall business performance</a:t>
            </a:r>
          </a:p>
          <a:p>
            <a:r>
              <a:rPr lang="en-US" dirty="0"/>
              <a:t>Identify top-performing and underperforming segments</a:t>
            </a:r>
          </a:p>
          <a:p>
            <a:r>
              <a:rPr lang="en-US" dirty="0"/>
              <a:t>Join related tables</a:t>
            </a:r>
          </a:p>
          <a:p>
            <a:r>
              <a:rPr lang="en-US" dirty="0"/>
              <a:t>Understand geographic sales distribution</a:t>
            </a:r>
          </a:p>
          <a:p>
            <a:r>
              <a:rPr lang="en-US" dirty="0"/>
              <a:t>Study sales patterns over time</a:t>
            </a:r>
          </a:p>
          <a:p>
            <a:r>
              <a:rPr lang="en-US" dirty="0"/>
              <a:t>Enable interactive and actionable insights</a:t>
            </a:r>
          </a:p>
        </p:txBody>
      </p:sp>
      <p:pic>
        <p:nvPicPr>
          <p:cNvPr id="4" name="Picture 2" descr="Sales and Inventory System in Mumbai | ID: 13689135548">
            <a:extLst>
              <a:ext uri="{FF2B5EF4-FFF2-40B4-BE49-F238E27FC236}">
                <a16:creationId xmlns:a16="http://schemas.microsoft.com/office/drawing/2014/main" id="{8AEE465E-D694-FBCD-D015-E12806E350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8" b="12413"/>
          <a:stretch>
            <a:fillRect/>
          </a:stretch>
        </p:blipFill>
        <p:spPr bwMode="auto">
          <a:xfrm>
            <a:off x="6699738" y="3429000"/>
            <a:ext cx="5492262" cy="2963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Visual aid</a:t>
            </a:r>
            <a:br>
              <a:rPr lang="en-US" dirty="0"/>
            </a:br>
            <a:r>
              <a:rPr lang="en-US" dirty="0"/>
              <a:t>(Dashboard)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E2F9F-E874-CEAD-E9C1-0C0D4B16FE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8B91-7EF8-EE7C-A0F5-CE962FD86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7990"/>
            <a:ext cx="9778365" cy="476015"/>
          </a:xfrm>
        </p:spPr>
        <p:txBody>
          <a:bodyPr/>
          <a:lstStyle/>
          <a:p>
            <a:r>
              <a:rPr lang="en-US" sz="3600" dirty="0"/>
              <a:t>Chart 1- Total Sales by Category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DDB16-5EB8-F2F1-F36B-06B11F7F946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216037" y="2535304"/>
            <a:ext cx="4490827" cy="359747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Mountain Bikes dominate the sales landscape with revenue of 2.7M, accounting for the largest share.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Road Bikes follow with 1.7M, showing strong performance but still trailing significantly behind Mountain Bikes.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remaining categories are on or fall below 1M, indicating a steep drop-off in sales volume beyond the top two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FEFAEC7-4F17-2033-E76B-302CC484D8E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291705" y="790409"/>
            <a:ext cx="6815108" cy="527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85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D4B4-C63A-9CE4-1C37-88A03EAD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0"/>
            <a:ext cx="9778365" cy="485442"/>
          </a:xfrm>
        </p:spPr>
        <p:txBody>
          <a:bodyPr/>
          <a:lstStyle/>
          <a:p>
            <a:r>
              <a:rPr lang="en-US" sz="3600" dirty="0"/>
              <a:t>Chart 2- Total Sales by Staffs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CB541-FA51-6DF3-29D9-CE28462361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837632" y="2123194"/>
            <a:ext cx="4490827" cy="387315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All ten staff members — Bernardine, Fabiola, Genna, Jannette, Kali, Layla, Marcelene, Mireya, Venita, and Virgie have exactly the same total sales value.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bars are identical in length, suggesting either:</a:t>
            </a:r>
          </a:p>
          <a:p>
            <a:pPr marL="457200" indent="-457200">
              <a:buFont typeface="+mj-lt"/>
              <a:buAutoNum type="alphaLcPeriod"/>
            </a:pPr>
            <a:r>
              <a:rPr lang="en-US" dirty="0"/>
              <a:t> A data aggregation issue, or</a:t>
            </a:r>
          </a:p>
          <a:p>
            <a:pPr marL="457200" indent="-457200">
              <a:buFont typeface="+mj-lt"/>
              <a:buAutoNum type="alphaLcPeriod"/>
            </a:pPr>
            <a:r>
              <a:rPr lang="en-US" dirty="0"/>
              <a:t>A business rule where sales are evenly distributed (e.g., pooled commissions or shared quotas).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DBAAE7-A60E-988C-F4C8-EE123C280E5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413239" y="1134307"/>
            <a:ext cx="6145824" cy="493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6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ADA56-5415-4C89-182B-A90FD54A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0"/>
            <a:ext cx="9778365" cy="589137"/>
          </a:xfrm>
        </p:spPr>
        <p:txBody>
          <a:bodyPr/>
          <a:lstStyle/>
          <a:p>
            <a:r>
              <a:rPr lang="en-US" sz="3600" dirty="0"/>
              <a:t>Chart 3- Total Sales of Each Store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4D23D-DBA0-B0CD-4D3C-B7FA056DBA9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29718" y="1679368"/>
            <a:ext cx="4490827" cy="500278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1.     Baldwin Bikes is the clear leader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Its sales are more than 3x that of Santa Cruz and nearly 6x Rowlett.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suggests strong customer traffic, better product mix, or superior sales execution.</a:t>
            </a:r>
          </a:p>
          <a:p>
            <a:r>
              <a:rPr lang="en-US" b="1" dirty="0"/>
              <a:t>2.     Santa Cruz Bikes holds mid-tier 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While not close to Baldwin, it still contributes meaningfully.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Could be optimized further with localized marketing or bundling strategies.</a:t>
            </a:r>
          </a:p>
          <a:p>
            <a:r>
              <a:rPr lang="en-US" b="1" dirty="0"/>
              <a:t>3.     Rowlett Bikes may need 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Its low sales could stem from: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Limited inventory or product range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Poor visibility or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Staffing or service issues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3EEC7A-0364-09E1-4B5E-7E3451525C8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09401" y="1160585"/>
            <a:ext cx="5873813" cy="45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6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2350-7120-8CE9-A8DB-36A703ACB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70282"/>
            <a:ext cx="9778365" cy="513723"/>
          </a:xfrm>
        </p:spPr>
        <p:txBody>
          <a:bodyPr/>
          <a:lstStyle/>
          <a:p>
            <a:r>
              <a:rPr lang="en-US" sz="3600" dirty="0"/>
              <a:t>Chart 4- Total Sales by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B8938-FDED-9B93-F4B6-A435E751E5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17323" y="2414172"/>
            <a:ext cx="4712677" cy="437354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2017 stands out as a high-growth year — a 42% jump from 2016 suggests strategic success,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2018’s drop is significant — nearly half the sales of 2017. This could be due to</a:t>
            </a:r>
            <a:r>
              <a:rPr lang="en-US" dirty="0"/>
              <a:t>:</a:t>
            </a:r>
          </a:p>
          <a:p>
            <a:r>
              <a:rPr lang="en-US" dirty="0"/>
              <a:t>     - Inventory shortages</a:t>
            </a:r>
          </a:p>
          <a:p>
            <a:r>
              <a:rPr lang="en-US" dirty="0"/>
              <a:t>     - Reduced marketing spend</a:t>
            </a:r>
          </a:p>
          <a:p>
            <a:r>
              <a:rPr lang="en-US" dirty="0"/>
              <a:t>     - Economic or seasonal downturns</a:t>
            </a:r>
          </a:p>
          <a:p>
            <a:r>
              <a:rPr lang="en-US" dirty="0"/>
              <a:t>     - Data gaps or reporting inconsistencies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D03F5EC-8422-D5C9-24D8-486F05093B0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26236" y="1283678"/>
            <a:ext cx="6094372" cy="429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3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C73A-8EA5-CAE2-2E95-FA20984F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0"/>
            <a:ext cx="9778365" cy="542003"/>
          </a:xfrm>
        </p:spPr>
        <p:txBody>
          <a:bodyPr/>
          <a:lstStyle/>
          <a:p>
            <a:r>
              <a:rPr lang="en-US" sz="3600" dirty="0"/>
              <a:t>Chart 5- Total Sales by City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A0ED2-FE00-24A0-98A8-0D3FF21C88D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21796" y="1450731"/>
            <a:ext cx="4732944" cy="5117123"/>
          </a:xfrm>
        </p:spPr>
        <p:txBody>
          <a:bodyPr>
            <a:normAutofit fontScale="85000" lnSpcReduction="10000"/>
          </a:bodyPr>
          <a:lstStyle/>
          <a:p>
            <a:r>
              <a:rPr lang="en-US" sz="1800" b="1" dirty="0"/>
              <a:t>1. Baldwin is the clear sales powerhouse</a:t>
            </a:r>
          </a:p>
          <a:p>
            <a:r>
              <a:rPr lang="en-US" sz="1800" dirty="0"/>
              <a:t>- Its sales are 3.25x higher than Santa Cruz and 6x Rowlett.</a:t>
            </a:r>
          </a:p>
          <a:p>
            <a:r>
              <a:rPr lang="en-US" sz="1800" dirty="0"/>
              <a:t>- This suggests strong local demand, optimized operations, or possibly a broader product mix.</a:t>
            </a:r>
          </a:p>
          <a:p>
            <a:r>
              <a:rPr lang="en-US" sz="1800" b="1" dirty="0"/>
              <a:t>2. Santa Cruz shows potential</a:t>
            </a:r>
          </a:p>
          <a:p>
            <a:r>
              <a:rPr lang="en-US" sz="1800" dirty="0"/>
              <a:t>- While not close to Baldwin, it still contributes significantly.</a:t>
            </a:r>
          </a:p>
          <a:p>
            <a:r>
              <a:rPr lang="en-US" sz="1800" dirty="0"/>
              <a:t>- Consider analyzing category-level performance here — are certain products driving the bulk of sales?</a:t>
            </a:r>
          </a:p>
          <a:p>
            <a:r>
              <a:rPr lang="en-US" sz="1800" b="1" dirty="0"/>
              <a:t>3. Rowlett may need strategic support</a:t>
            </a:r>
          </a:p>
          <a:p>
            <a:r>
              <a:rPr lang="en-US" sz="1800" dirty="0"/>
              <a:t>- Its lower sales could stem from:</a:t>
            </a:r>
          </a:p>
          <a:p>
            <a:r>
              <a:rPr lang="en-US" sz="1800" dirty="0"/>
              <a:t>- Limited inventory or product range</a:t>
            </a:r>
          </a:p>
          <a:p>
            <a:r>
              <a:rPr lang="en-US" sz="1800" dirty="0"/>
              <a:t>- Lower brand visibility</a:t>
            </a:r>
          </a:p>
          <a:p>
            <a:r>
              <a:rPr lang="en-US" sz="1800" dirty="0"/>
              <a:t>- Demographic mismatch or location challenges</a:t>
            </a:r>
          </a:p>
          <a:p>
            <a:endParaRPr lang="en-US" sz="1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FA93D5-EECA-2454-5C36-CA54A779483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339383" y="1019907"/>
            <a:ext cx="6105378" cy="481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43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E424-A2FC-5A00-27BD-B0C39CC5A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80166"/>
            <a:ext cx="11302267" cy="419455"/>
          </a:xfrm>
        </p:spPr>
        <p:txBody>
          <a:bodyPr/>
          <a:lstStyle/>
          <a:p>
            <a:r>
              <a:rPr lang="en-US" sz="3600" dirty="0"/>
              <a:t>Chart 6- Order by Staff and Customer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BCE8F-9BD8-F321-7497-17E95E7DFD7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755450" y="2866293"/>
            <a:ext cx="4141177" cy="36927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matrix is wide, suggesting each staff member has interacted with 40+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values range from 1 to 3, which mean number of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“Total” row aggregates each column, showing how active each customer is across all staff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0D0792-E644-617C-3572-D1B8223897E4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t="12749"/>
          <a:stretch>
            <a:fillRect/>
          </a:stretch>
        </p:blipFill>
        <p:spPr>
          <a:xfrm>
            <a:off x="118941" y="844062"/>
            <a:ext cx="7345728" cy="524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86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604135"/>
          </a:xfrm>
        </p:spPr>
        <p:txBody>
          <a:bodyPr/>
          <a:lstStyle/>
          <a:p>
            <a:r>
              <a:rPr lang="en-US" dirty="0"/>
              <a:t>SQL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5" name="Title 2">
            <a:extLst>
              <a:ext uri="{FF2B5EF4-FFF2-40B4-BE49-F238E27FC236}">
                <a16:creationId xmlns:a16="http://schemas.microsoft.com/office/drawing/2014/main" id="{F2CD194D-A5AB-AB6A-8A0D-DF0967A07C15}"/>
              </a:ext>
            </a:extLst>
          </p:cNvPr>
          <p:cNvSpPr txBox="1">
            <a:spLocks/>
          </p:cNvSpPr>
          <p:nvPr/>
        </p:nvSpPr>
        <p:spPr>
          <a:xfrm>
            <a:off x="4779498" y="102875"/>
            <a:ext cx="4646943" cy="10240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Insight 1 Store &amp; Region-wise Sales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41D10-982D-37C5-90F5-E056957DE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351" y="1478492"/>
            <a:ext cx="8592749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3B54-68C2-4716-4BAC-057CF18B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98" y="111668"/>
            <a:ext cx="3502855" cy="1961595"/>
          </a:xfrm>
        </p:spPr>
        <p:txBody>
          <a:bodyPr/>
          <a:lstStyle/>
          <a:p>
            <a:r>
              <a:rPr lang="en-US" sz="3200" dirty="0"/>
              <a:t>Insight 2 Product-wise Sales &amp; Inventory Trend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3B9650-F173-3B4A-80CC-E7C750ACA13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r="7089"/>
          <a:stretch>
            <a:fillRect/>
          </a:stretch>
        </p:blipFill>
        <p:spPr>
          <a:xfrm>
            <a:off x="3856894" y="720969"/>
            <a:ext cx="8335106" cy="536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27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76092"/>
            <a:ext cx="2827570" cy="1494596"/>
          </a:xfrm>
        </p:spPr>
        <p:txBody>
          <a:bodyPr/>
          <a:lstStyle/>
          <a:p>
            <a:r>
              <a:rPr lang="en-US" sz="3200" dirty="0"/>
              <a:t>Insight 3 Staff Performance Reports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818123-F17A-B076-2C14-C0E213B2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930" y="709233"/>
            <a:ext cx="7868748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305A-1E26-8102-2E95-4E8FEEA68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6" y="187717"/>
            <a:ext cx="3411416" cy="1680205"/>
          </a:xfrm>
        </p:spPr>
        <p:txBody>
          <a:bodyPr/>
          <a:lstStyle/>
          <a:p>
            <a:r>
              <a:rPr lang="en-US" sz="3200" dirty="0"/>
              <a:t>Insight 4 Customer Orders and Frequency (Top 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347DCB-1E30-C6D3-6DDF-80FD92388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260" y="815506"/>
            <a:ext cx="791638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17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0527-F0FD-9467-5636-232A1AFA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616" y="2889977"/>
            <a:ext cx="4939666" cy="2542810"/>
          </a:xfrm>
        </p:spPr>
        <p:txBody>
          <a:bodyPr/>
          <a:lstStyle/>
          <a:p>
            <a:r>
              <a:rPr lang="en-US" sz="3200" dirty="0"/>
              <a:t>Insight 5 </a:t>
            </a:r>
            <a:br>
              <a:rPr lang="en-US" sz="3200" dirty="0"/>
            </a:br>
            <a:r>
              <a:rPr lang="en-US" sz="3200" dirty="0"/>
              <a:t>Revenue and Discount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155E22-39D5-378B-7635-09279DD39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638"/>
            <a:ext cx="6981092" cy="4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57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99B2-4170-9485-143F-9425B1AE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61" y="280081"/>
            <a:ext cx="3481754" cy="1680205"/>
          </a:xfrm>
        </p:spPr>
        <p:txBody>
          <a:bodyPr/>
          <a:lstStyle/>
          <a:p>
            <a:r>
              <a:rPr lang="en-US" sz="3200" dirty="0"/>
              <a:t>VIEWS-1. Monthly Sales Trend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35BD6-6A6E-BE23-4486-F1D62A35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015" y="1033128"/>
            <a:ext cx="771632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93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D6F9-1895-6865-DEA2-659555C4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0922" y="4027982"/>
            <a:ext cx="3126773" cy="1405664"/>
          </a:xfrm>
        </p:spPr>
        <p:txBody>
          <a:bodyPr/>
          <a:lstStyle/>
          <a:p>
            <a:r>
              <a:rPr lang="en-US" sz="3200" dirty="0"/>
              <a:t>VIEW- 2. Low Stock Alert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49C3DD-F624-93B2-BC56-1EE704F9E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8" y="0"/>
            <a:ext cx="61747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58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C6EB-62F4-B47D-7DB6-7B04ACED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2563619" cy="1680205"/>
          </a:xfrm>
        </p:spPr>
        <p:txBody>
          <a:bodyPr/>
          <a:lstStyle/>
          <a:p>
            <a:r>
              <a:rPr lang="en-US" sz="3200" dirty="0"/>
              <a:t>VIEW- 3. Category Revenue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6C5EEB-EC35-3F14-0E7F-786E1688E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724" y="778494"/>
            <a:ext cx="7925906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38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E502-3A07-6AFD-9425-B30ADD0FB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2368648" cy="1680205"/>
          </a:xfrm>
        </p:spPr>
        <p:txBody>
          <a:bodyPr/>
          <a:lstStyle/>
          <a:p>
            <a:r>
              <a:rPr lang="en-US" sz="3200" dirty="0"/>
              <a:t>VIEW- 4. Top Customers by Region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F7EA13-CB61-D8C9-8140-B099FEAB36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464169" y="571500"/>
            <a:ext cx="8197362" cy="601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6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Himanshu</a:t>
            </a:r>
          </a:p>
          <a:p>
            <a:r>
              <a:rPr lang="en-US" dirty="0"/>
              <a:t>Domain- Data Analyst</a:t>
            </a:r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hiimanshuu0406@gmail.com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583</Words>
  <Application>Microsoft Office PowerPoint</Application>
  <PresentationFormat>Widescreen</PresentationFormat>
  <Paragraphs>74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Franklin Gothic Book</vt:lpstr>
      <vt:lpstr>Franklin Gothic Demi</vt:lpstr>
      <vt:lpstr>Custom</vt:lpstr>
      <vt:lpstr>Retail Sales &amp; Inventory Intelligence System</vt:lpstr>
      <vt:lpstr>Objectives</vt:lpstr>
      <vt:lpstr>Visual aid (Dashboard)</vt:lpstr>
      <vt:lpstr>PowerPoint Presentation</vt:lpstr>
      <vt:lpstr>Chart 1- Total Sales by Category</vt:lpstr>
      <vt:lpstr>Chart 2- Total Sales by Staffs</vt:lpstr>
      <vt:lpstr>Chart 3- Total Sales of Each Store</vt:lpstr>
      <vt:lpstr>Chart 4- Total Sales by Year</vt:lpstr>
      <vt:lpstr>Chart 5- Total Sales by City</vt:lpstr>
      <vt:lpstr>Chart 6- Order by Staff and Customer</vt:lpstr>
      <vt:lpstr>SQL Insights</vt:lpstr>
      <vt:lpstr>Insight 2 Product-wise Sales &amp; Inventory Trend</vt:lpstr>
      <vt:lpstr>Insight 3 Staff Performance Reports</vt:lpstr>
      <vt:lpstr>Insight 4 Customer Orders and Frequency (Top 5)</vt:lpstr>
      <vt:lpstr>Insight 5  Revenue and Discount Analysis</vt:lpstr>
      <vt:lpstr>VIEWS-1. Monthly Sales Trend</vt:lpstr>
      <vt:lpstr>VIEW- 2. Low Stock Alert</vt:lpstr>
      <vt:lpstr>VIEW- 3. Category Revenue Comparison</vt:lpstr>
      <vt:lpstr>VIEW- 4. Top Customers by Region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2025-10-31T07:34:33Z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